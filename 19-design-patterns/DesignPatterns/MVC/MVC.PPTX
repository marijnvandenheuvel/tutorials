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gria Mira William" initials="AMW" lastIdx="1" clrIdx="0">
    <p:extLst>
      <p:ext uri="{19B8F6BF-5375-455C-9EA6-DF929625EA0E}">
        <p15:presenceInfo xmlns:p15="http://schemas.microsoft.com/office/powerpoint/2012/main" userId="S-1-5-21-733938722-988983798-1851652334-4943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372" autoAdjust="0"/>
  </p:normalViewPr>
  <p:slideViewPr>
    <p:cSldViewPr snapToGrid="0">
      <p:cViewPr varScale="1">
        <p:scale>
          <a:sx n="99" d="100"/>
          <a:sy n="99" d="100"/>
        </p:scale>
        <p:origin x="28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8280F-DA34-4F49-BBEF-5B99FD0C3DEE}" type="datetimeFigureOut">
              <a:rPr lang="nl-BE" smtClean="0"/>
              <a:t>9/02/2017</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0082D-34BF-48C6-AED8-26A625FF3753}" type="slidenum">
              <a:rPr lang="nl-BE" smtClean="0"/>
              <a:t>‹#›</a:t>
            </a:fld>
            <a:endParaRPr lang="nl-BE"/>
          </a:p>
        </p:txBody>
      </p:sp>
    </p:spTree>
    <p:extLst>
      <p:ext uri="{BB962C8B-B14F-4D97-AF65-F5344CB8AC3E}">
        <p14:creationId xmlns:p14="http://schemas.microsoft.com/office/powerpoint/2010/main" val="4230376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This pattern </a:t>
            </a:r>
            <a:r>
              <a:rPr lang="en-US" sz="1200" b="1" i="0" kern="1200" dirty="0" smtClean="0">
                <a:solidFill>
                  <a:schemeClr val="tx1"/>
                </a:solidFill>
                <a:effectLst/>
                <a:latin typeface="+mn-lt"/>
                <a:ea typeface="+mn-ea"/>
                <a:cs typeface="+mn-cs"/>
              </a:rPr>
              <a:t>decouples</a:t>
            </a:r>
            <a:r>
              <a:rPr lang="en-US" sz="1200" b="0" i="0" kern="1200" dirty="0" smtClean="0">
                <a:solidFill>
                  <a:schemeClr val="tx1"/>
                </a:solidFill>
                <a:effectLst/>
                <a:latin typeface="+mn-lt"/>
                <a:ea typeface="+mn-ea"/>
                <a:cs typeface="+mn-cs"/>
              </a:rPr>
              <a:t> changes to how data are manipulated from how they are displayed or stored, while unifying the code in each component. In other words, it's a way of developing apps keeping the data (model) used in the program, and the visual (view) component of the program separate from one another, each interacting only with a controller containing the logic of our program. The view and the model interact only with the controller </a:t>
            </a:r>
            <a:r>
              <a:rPr lang="en-US" sz="1200" b="1" i="0" kern="1200" dirty="0" smtClean="0">
                <a:solidFill>
                  <a:schemeClr val="tx1"/>
                </a:solidFill>
                <a:effectLst/>
                <a:latin typeface="+mn-lt"/>
                <a:ea typeface="+mn-ea"/>
                <a:cs typeface="+mn-cs"/>
              </a:rPr>
              <a:t>never</a:t>
            </a:r>
            <a:r>
              <a:rPr lang="en-US" sz="1200" b="0" i="0" kern="1200" dirty="0" smtClean="0">
                <a:solidFill>
                  <a:schemeClr val="tx1"/>
                </a:solidFill>
                <a:effectLst/>
                <a:latin typeface="+mn-lt"/>
                <a:ea typeface="+mn-ea"/>
                <a:cs typeface="+mn-cs"/>
              </a:rPr>
              <a:t> with each other.</a:t>
            </a:r>
            <a:endParaRPr lang="nl-BE" dirty="0"/>
          </a:p>
        </p:txBody>
      </p:sp>
      <p:sp>
        <p:nvSpPr>
          <p:cNvPr id="4" name="Slide Number Placeholder 3"/>
          <p:cNvSpPr>
            <a:spLocks noGrp="1"/>
          </p:cNvSpPr>
          <p:nvPr>
            <p:ph type="sldNum" sz="quarter" idx="10"/>
          </p:nvPr>
        </p:nvSpPr>
        <p:spPr/>
        <p:txBody>
          <a:bodyPr/>
          <a:lstStyle/>
          <a:p>
            <a:fld id="{4DD0082D-34BF-48C6-AED8-26A625FF3753}" type="slidenum">
              <a:rPr lang="nl-BE" smtClean="0"/>
              <a:t>3</a:t>
            </a:fld>
            <a:endParaRPr lang="nl-BE"/>
          </a:p>
        </p:txBody>
      </p:sp>
    </p:spTree>
    <p:extLst>
      <p:ext uri="{BB962C8B-B14F-4D97-AF65-F5344CB8AC3E}">
        <p14:creationId xmlns:p14="http://schemas.microsoft.com/office/powerpoint/2010/main" val="1709470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nl-BE"/>
          </a:p>
        </p:txBody>
      </p:sp>
      <p:sp>
        <p:nvSpPr>
          <p:cNvPr id="4" name="Date Placeholder 3"/>
          <p:cNvSpPr>
            <a:spLocks noGrp="1"/>
          </p:cNvSpPr>
          <p:nvPr>
            <p:ph type="dt" sz="half" idx="10"/>
          </p:nvPr>
        </p:nvSpPr>
        <p:spPr/>
        <p:txBody>
          <a:bodyPr/>
          <a:lstStyle/>
          <a:p>
            <a:fld id="{D1A2707F-31F1-4210-8487-D5C9798DB50E}" type="datetimeFigureOut">
              <a:rPr lang="nl-BE" smtClean="0"/>
              <a:t>9/02/2017</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422122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B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4" name="Date Placeholder 3"/>
          <p:cNvSpPr>
            <a:spLocks noGrp="1"/>
          </p:cNvSpPr>
          <p:nvPr>
            <p:ph type="dt" sz="half" idx="10"/>
          </p:nvPr>
        </p:nvSpPr>
        <p:spPr/>
        <p:txBody>
          <a:bodyPr/>
          <a:lstStyle/>
          <a:p>
            <a:fld id="{D1A2707F-31F1-4210-8487-D5C9798DB50E}" type="datetimeFigureOut">
              <a:rPr lang="nl-BE" smtClean="0"/>
              <a:t>9/02/2017</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4071228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2707F-31F1-4210-8487-D5C9798DB50E}" type="datetimeFigureOut">
              <a:rPr lang="nl-BE" smtClean="0"/>
              <a:t>9/02/2017</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380110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5" name="Date Placeholder 4"/>
          <p:cNvSpPr>
            <a:spLocks noGrp="1"/>
          </p:cNvSpPr>
          <p:nvPr>
            <p:ph type="dt" sz="half" idx="10"/>
          </p:nvPr>
        </p:nvSpPr>
        <p:spPr/>
        <p:txBody>
          <a:bodyPr/>
          <a:lstStyle/>
          <a:p>
            <a:fld id="{D1A2707F-31F1-4210-8487-D5C9798DB50E}" type="datetimeFigureOut">
              <a:rPr lang="nl-BE" smtClean="0"/>
              <a:t>9/02/2017</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86834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7" name="Date Placeholder 6"/>
          <p:cNvSpPr>
            <a:spLocks noGrp="1"/>
          </p:cNvSpPr>
          <p:nvPr>
            <p:ph type="dt" sz="half" idx="10"/>
          </p:nvPr>
        </p:nvSpPr>
        <p:spPr/>
        <p:txBody>
          <a:bodyPr/>
          <a:lstStyle/>
          <a:p>
            <a:fld id="{D1A2707F-31F1-4210-8487-D5C9798DB50E}" type="datetimeFigureOut">
              <a:rPr lang="nl-BE" smtClean="0"/>
              <a:t>9/02/2017</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158719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BE"/>
          </a:p>
        </p:txBody>
      </p:sp>
      <p:sp>
        <p:nvSpPr>
          <p:cNvPr id="3" name="Date Placeholder 2"/>
          <p:cNvSpPr>
            <a:spLocks noGrp="1"/>
          </p:cNvSpPr>
          <p:nvPr>
            <p:ph type="dt" sz="half" idx="10"/>
          </p:nvPr>
        </p:nvSpPr>
        <p:spPr/>
        <p:txBody>
          <a:bodyPr/>
          <a:lstStyle/>
          <a:p>
            <a:fld id="{D1A2707F-31F1-4210-8487-D5C9798DB50E}" type="datetimeFigureOut">
              <a:rPr lang="nl-BE" smtClean="0"/>
              <a:t>9/02/2017</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137210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A2707F-31F1-4210-8487-D5C9798DB50E}" type="datetimeFigureOut">
              <a:rPr lang="nl-BE" smtClean="0"/>
              <a:t>9/02/2017</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2309556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A2707F-31F1-4210-8487-D5C9798DB50E}" type="datetimeFigureOut">
              <a:rPr lang="nl-BE" smtClean="0"/>
              <a:t>9/02/2017</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2353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A2707F-31F1-4210-8487-D5C9798DB50E}" type="datetimeFigureOut">
              <a:rPr lang="nl-BE" smtClean="0"/>
              <a:t>9/02/2017</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1308896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4" name="Date Placeholder 3"/>
          <p:cNvSpPr>
            <a:spLocks noGrp="1"/>
          </p:cNvSpPr>
          <p:nvPr>
            <p:ph type="dt" sz="half" idx="10"/>
          </p:nvPr>
        </p:nvSpPr>
        <p:spPr/>
        <p:txBody>
          <a:bodyPr/>
          <a:lstStyle/>
          <a:p>
            <a:fld id="{D1A2707F-31F1-4210-8487-D5C9798DB50E}" type="datetimeFigureOut">
              <a:rPr lang="nl-BE" smtClean="0"/>
              <a:t>9/02/2017</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2544964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4" name="Date Placeholder 3"/>
          <p:cNvSpPr>
            <a:spLocks noGrp="1"/>
          </p:cNvSpPr>
          <p:nvPr>
            <p:ph type="dt" sz="half" idx="10"/>
          </p:nvPr>
        </p:nvSpPr>
        <p:spPr/>
        <p:txBody>
          <a:bodyPr/>
          <a:lstStyle/>
          <a:p>
            <a:fld id="{D1A2707F-31F1-4210-8487-D5C9798DB50E}" type="datetimeFigureOut">
              <a:rPr lang="nl-BE" smtClean="0"/>
              <a:t>9/02/2017</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ED2B2592-7999-4447-A576-30455A5E3E39}" type="slidenum">
              <a:rPr lang="nl-BE" smtClean="0"/>
              <a:t>‹#›</a:t>
            </a:fld>
            <a:endParaRPr lang="nl-BE"/>
          </a:p>
        </p:txBody>
      </p:sp>
    </p:spTree>
    <p:extLst>
      <p:ext uri="{BB962C8B-B14F-4D97-AF65-F5344CB8AC3E}">
        <p14:creationId xmlns:p14="http://schemas.microsoft.com/office/powerpoint/2010/main" val="16608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A2707F-31F1-4210-8487-D5C9798DB50E}" type="datetimeFigureOut">
              <a:rPr lang="nl-BE" smtClean="0"/>
              <a:t>9/02/2017</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2592-7999-4447-A576-30455A5E3E39}" type="slidenum">
              <a:rPr lang="nl-BE" smtClean="0"/>
              <a:t>‹#›</a:t>
            </a:fld>
            <a:endParaRPr lang="nl-BE"/>
          </a:p>
        </p:txBody>
      </p:sp>
    </p:spTree>
    <p:extLst>
      <p:ext uri="{BB962C8B-B14F-4D97-AF65-F5344CB8AC3E}">
        <p14:creationId xmlns:p14="http://schemas.microsoft.com/office/powerpoint/2010/main" val="2236543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codeproject.com/Articles/25057/Simple-Example-of-MVC-Model-View-Controller-Design"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MVC</a:t>
            </a:r>
            <a:endParaRPr lang="nl-BE" dirty="0"/>
          </a:p>
        </p:txBody>
      </p:sp>
      <p:sp>
        <p:nvSpPr>
          <p:cNvPr id="3" name="Subtitle 2"/>
          <p:cNvSpPr>
            <a:spLocks noGrp="1"/>
          </p:cNvSpPr>
          <p:nvPr>
            <p:ph type="subTitle" idx="1"/>
          </p:nvPr>
        </p:nvSpPr>
        <p:spPr/>
        <p:txBody>
          <a:bodyPr/>
          <a:lstStyle/>
          <a:p>
            <a:r>
              <a:rPr lang="en-US" dirty="0" smtClean="0"/>
              <a:t>Model View Controller</a:t>
            </a:r>
            <a:endParaRPr lang="nl-BE" dirty="0"/>
          </a:p>
        </p:txBody>
      </p:sp>
    </p:spTree>
    <p:extLst>
      <p:ext uri="{BB962C8B-B14F-4D97-AF65-F5344CB8AC3E}">
        <p14:creationId xmlns:p14="http://schemas.microsoft.com/office/powerpoint/2010/main" val="3694519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MVC</a:t>
            </a:r>
            <a:endParaRPr lang="nl-BE" dirty="0"/>
          </a:p>
        </p:txBody>
      </p:sp>
      <p:pic>
        <p:nvPicPr>
          <p:cNvPr id="1026" name="Picture 2" descr="Afbeeldingsresultaat voor design patterns architecture MV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53662" y="1690688"/>
            <a:ext cx="5891080" cy="26954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474947" y="4688377"/>
            <a:ext cx="3242106" cy="369332"/>
          </a:xfrm>
          <a:prstGeom prst="rect">
            <a:avLst/>
          </a:prstGeom>
          <a:noFill/>
        </p:spPr>
        <p:txBody>
          <a:bodyPr wrap="none" rtlCol="0">
            <a:spAutoFit/>
          </a:bodyPr>
          <a:lstStyle/>
          <a:p>
            <a:r>
              <a:rPr lang="en-US" dirty="0" smtClean="0"/>
              <a:t>This says everything and nothing</a:t>
            </a:r>
            <a:endParaRPr lang="nl-BE" dirty="0"/>
          </a:p>
        </p:txBody>
      </p:sp>
    </p:spTree>
    <p:extLst>
      <p:ext uri="{BB962C8B-B14F-4D97-AF65-F5344CB8AC3E}">
        <p14:creationId xmlns:p14="http://schemas.microsoft.com/office/powerpoint/2010/main" val="592597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MVC</a:t>
            </a:r>
            <a:endParaRPr lang="nl-BE" dirty="0"/>
          </a:p>
        </p:txBody>
      </p:sp>
      <p:sp>
        <p:nvSpPr>
          <p:cNvPr id="3" name="Content Placeholder 2"/>
          <p:cNvSpPr>
            <a:spLocks noGrp="1"/>
          </p:cNvSpPr>
          <p:nvPr>
            <p:ph idx="1"/>
          </p:nvPr>
        </p:nvSpPr>
        <p:spPr/>
        <p:txBody>
          <a:bodyPr>
            <a:normAutofit fontScale="77500" lnSpcReduction="20000"/>
          </a:bodyPr>
          <a:lstStyle/>
          <a:p>
            <a:r>
              <a:rPr lang="en-US" b="1" dirty="0" smtClean="0"/>
              <a:t>Model</a:t>
            </a:r>
            <a:endParaRPr lang="en-US" dirty="0"/>
          </a:p>
          <a:p>
            <a:pPr lvl="1"/>
            <a:r>
              <a:rPr lang="en-US" dirty="0"/>
              <a:t>Manages the </a:t>
            </a:r>
            <a:r>
              <a:rPr lang="en-US" dirty="0" smtClean="0"/>
              <a:t>application </a:t>
            </a:r>
            <a:r>
              <a:rPr lang="en-US" dirty="0"/>
              <a:t>data and state</a:t>
            </a:r>
          </a:p>
          <a:p>
            <a:pPr lvl="1"/>
            <a:r>
              <a:rPr lang="en-US" dirty="0"/>
              <a:t>Not concerned with UI or presentation</a:t>
            </a:r>
          </a:p>
          <a:p>
            <a:pPr marL="457200" lvl="1" indent="0">
              <a:buNone/>
            </a:pPr>
            <a:endParaRPr lang="en-US" dirty="0"/>
          </a:p>
          <a:p>
            <a:r>
              <a:rPr lang="en-US" b="1" dirty="0" smtClean="0"/>
              <a:t>View</a:t>
            </a:r>
            <a:endParaRPr lang="en-US" dirty="0"/>
          </a:p>
          <a:p>
            <a:pPr lvl="1"/>
            <a:r>
              <a:rPr lang="en-US" dirty="0"/>
              <a:t>Present the Model to the user in an appropriate </a:t>
            </a:r>
            <a:r>
              <a:rPr lang="en-US" dirty="0" smtClean="0"/>
              <a:t>visual rendering</a:t>
            </a:r>
            <a:endParaRPr lang="en-US" dirty="0"/>
          </a:p>
          <a:p>
            <a:pPr lvl="1"/>
            <a:r>
              <a:rPr lang="en-US" dirty="0"/>
              <a:t>Allows user to manipulate data</a:t>
            </a:r>
          </a:p>
          <a:p>
            <a:pPr lvl="1"/>
            <a:r>
              <a:rPr lang="en-US" dirty="0"/>
              <a:t>Does not store any data except to cache state</a:t>
            </a:r>
          </a:p>
          <a:p>
            <a:pPr lvl="1"/>
            <a:r>
              <a:rPr lang="en-US" dirty="0"/>
              <a:t>Easily reusable &amp; configurable to display different </a:t>
            </a:r>
            <a:r>
              <a:rPr lang="en-US" dirty="0" smtClean="0"/>
              <a:t>data</a:t>
            </a:r>
          </a:p>
          <a:p>
            <a:pPr marL="457200" lvl="1" indent="0">
              <a:buNone/>
            </a:pPr>
            <a:endParaRPr lang="en-US" dirty="0"/>
          </a:p>
          <a:p>
            <a:r>
              <a:rPr lang="en-US" b="1" dirty="0" smtClean="0"/>
              <a:t>Controller</a:t>
            </a:r>
            <a:endParaRPr lang="en-US" dirty="0"/>
          </a:p>
          <a:p>
            <a:pPr lvl="1"/>
            <a:r>
              <a:rPr lang="en-US" dirty="0"/>
              <a:t>Intermediary between Model &amp; View</a:t>
            </a:r>
          </a:p>
          <a:p>
            <a:pPr lvl="1"/>
            <a:r>
              <a:rPr lang="en-US" dirty="0"/>
              <a:t>Updates the </a:t>
            </a:r>
            <a:r>
              <a:rPr lang="en-US" dirty="0" smtClean="0"/>
              <a:t>View </a:t>
            </a:r>
            <a:r>
              <a:rPr lang="en-US" dirty="0"/>
              <a:t>when the model changes</a:t>
            </a:r>
          </a:p>
          <a:p>
            <a:pPr lvl="1"/>
            <a:r>
              <a:rPr lang="en-US" dirty="0"/>
              <a:t>Updates the </a:t>
            </a:r>
            <a:r>
              <a:rPr lang="en-US" dirty="0" smtClean="0"/>
              <a:t>Model </a:t>
            </a:r>
            <a:r>
              <a:rPr lang="en-US" dirty="0"/>
              <a:t>when the user manipulates the view</a:t>
            </a:r>
          </a:p>
          <a:p>
            <a:pPr lvl="1"/>
            <a:r>
              <a:rPr lang="en-US" dirty="0"/>
              <a:t>Typically where the </a:t>
            </a:r>
            <a:r>
              <a:rPr lang="en-US" dirty="0" smtClean="0"/>
              <a:t>application </a:t>
            </a:r>
            <a:r>
              <a:rPr lang="en-US" dirty="0"/>
              <a:t>logic </a:t>
            </a:r>
            <a:r>
              <a:rPr lang="en-US" dirty="0" smtClean="0"/>
              <a:t>resides</a:t>
            </a:r>
            <a:endParaRPr lang="en-US" dirty="0"/>
          </a:p>
        </p:txBody>
      </p:sp>
    </p:spTree>
    <p:extLst>
      <p:ext uri="{BB962C8B-B14F-4D97-AF65-F5344CB8AC3E}">
        <p14:creationId xmlns:p14="http://schemas.microsoft.com/office/powerpoint/2010/main" val="2762742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MVC</a:t>
            </a:r>
            <a:endParaRPr lang="nl-BE" dirty="0"/>
          </a:p>
        </p:txBody>
      </p:sp>
      <p:sp>
        <p:nvSpPr>
          <p:cNvPr id="3" name="Content Placeholder 2"/>
          <p:cNvSpPr>
            <a:spLocks noGrp="1"/>
          </p:cNvSpPr>
          <p:nvPr>
            <p:ph idx="1"/>
          </p:nvPr>
        </p:nvSpPr>
        <p:spPr/>
        <p:txBody>
          <a:bodyPr>
            <a:normAutofit/>
          </a:bodyPr>
          <a:lstStyle/>
          <a:p>
            <a:r>
              <a:rPr lang="en-US" dirty="0" smtClean="0"/>
              <a:t>A design pattern</a:t>
            </a:r>
          </a:p>
          <a:p>
            <a:r>
              <a:rPr lang="en-US" dirty="0" smtClean="0"/>
              <a:t>A compound pattern</a:t>
            </a:r>
          </a:p>
          <a:p>
            <a:pPr lvl="1"/>
            <a:r>
              <a:rPr lang="en-US" dirty="0"/>
              <a:t>A</a:t>
            </a:r>
            <a:r>
              <a:rPr lang="en-US" dirty="0" smtClean="0"/>
              <a:t> design pattern</a:t>
            </a:r>
            <a:r>
              <a:rPr lang="en-US" dirty="0"/>
              <a:t> that combines at least two patterns into a solution that solves a recurring or general </a:t>
            </a:r>
            <a:r>
              <a:rPr lang="en-US" dirty="0" smtClean="0"/>
              <a:t>problem</a:t>
            </a:r>
          </a:p>
          <a:p>
            <a:r>
              <a:rPr lang="en-US" dirty="0" smtClean="0"/>
              <a:t>An architectural </a:t>
            </a:r>
            <a:r>
              <a:rPr lang="en-US" dirty="0"/>
              <a:t>pattern </a:t>
            </a:r>
            <a:endParaRPr lang="en-US" dirty="0" smtClean="0"/>
          </a:p>
          <a:p>
            <a:pPr lvl="1"/>
            <a:r>
              <a:rPr lang="en-US" dirty="0" smtClean="0"/>
              <a:t>is </a:t>
            </a:r>
            <a:r>
              <a:rPr lang="en-US" dirty="0"/>
              <a:t>a general, reusable solution to a commonly occurring problem in </a:t>
            </a:r>
            <a:r>
              <a:rPr lang="en-US" dirty="0" smtClean="0"/>
              <a:t>software architecture.</a:t>
            </a:r>
            <a:r>
              <a:rPr lang="en-US" baseline="30000" dirty="0" smtClean="0"/>
              <a:t> </a:t>
            </a:r>
            <a:r>
              <a:rPr lang="en-US" dirty="0" smtClean="0"/>
              <a:t>Architectural </a:t>
            </a:r>
            <a:r>
              <a:rPr lang="en-US" dirty="0"/>
              <a:t>patterns are similar to </a:t>
            </a:r>
            <a:r>
              <a:rPr lang="en-US" dirty="0" smtClean="0"/>
              <a:t>design patterns</a:t>
            </a:r>
            <a:r>
              <a:rPr lang="en-US" dirty="0"/>
              <a:t> but have a broader scope. </a:t>
            </a:r>
            <a:r>
              <a:rPr lang="en-US" dirty="0" smtClean="0"/>
              <a:t>They address </a:t>
            </a:r>
            <a:r>
              <a:rPr lang="en-US" dirty="0"/>
              <a:t>various </a:t>
            </a:r>
            <a:r>
              <a:rPr lang="en-US" dirty="0" smtClean="0"/>
              <a:t>issues, </a:t>
            </a:r>
            <a:r>
              <a:rPr lang="en-US" dirty="0"/>
              <a:t>such as </a:t>
            </a:r>
            <a:r>
              <a:rPr lang="en-US" dirty="0" smtClean="0"/>
              <a:t>computer hardware performance </a:t>
            </a:r>
            <a:r>
              <a:rPr lang="en-US" dirty="0"/>
              <a:t>limitations, </a:t>
            </a:r>
            <a:r>
              <a:rPr lang="en-US" dirty="0" smtClean="0"/>
              <a:t>high availability</a:t>
            </a:r>
            <a:r>
              <a:rPr lang="en-US" dirty="0"/>
              <a:t> and minimization of a </a:t>
            </a:r>
            <a:r>
              <a:rPr lang="en-US" dirty="0" smtClean="0"/>
              <a:t>business risk.</a:t>
            </a:r>
            <a:endParaRPr lang="nl-BE" dirty="0"/>
          </a:p>
        </p:txBody>
      </p:sp>
    </p:spTree>
    <p:extLst>
      <p:ext uri="{BB962C8B-B14F-4D97-AF65-F5344CB8AC3E}">
        <p14:creationId xmlns:p14="http://schemas.microsoft.com/office/powerpoint/2010/main" val="995118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MVC – Uses and General flow</a:t>
            </a:r>
            <a:endParaRPr lang="nl-BE" dirty="0"/>
          </a:p>
        </p:txBody>
      </p:sp>
      <p:sp>
        <p:nvSpPr>
          <p:cNvPr id="3" name="Content Placeholder 2"/>
          <p:cNvSpPr>
            <a:spLocks noGrp="1"/>
          </p:cNvSpPr>
          <p:nvPr>
            <p:ph idx="1"/>
          </p:nvPr>
        </p:nvSpPr>
        <p:spPr/>
        <p:txBody>
          <a:bodyPr>
            <a:normAutofit fontScale="77500" lnSpcReduction="20000"/>
          </a:bodyPr>
          <a:lstStyle/>
          <a:p>
            <a:pPr marL="0" indent="0">
              <a:buNone/>
            </a:pPr>
            <a:r>
              <a:rPr lang="en-US" u="sng" dirty="0"/>
              <a:t>MVC is often seen in web </a:t>
            </a:r>
            <a:r>
              <a:rPr lang="en-US" u="sng" dirty="0" smtClean="0"/>
              <a:t>applications</a:t>
            </a:r>
          </a:p>
          <a:p>
            <a:pPr lvl="1"/>
            <a:r>
              <a:rPr lang="en-US" dirty="0" smtClean="0"/>
              <a:t>the </a:t>
            </a:r>
            <a:r>
              <a:rPr lang="en-US" dirty="0"/>
              <a:t>view is the actual HTML page, </a:t>
            </a:r>
            <a:endParaRPr lang="en-US" dirty="0" smtClean="0"/>
          </a:p>
          <a:p>
            <a:pPr lvl="1"/>
            <a:r>
              <a:rPr lang="en-US" dirty="0" smtClean="0"/>
              <a:t>the </a:t>
            </a:r>
            <a:r>
              <a:rPr lang="en-US" dirty="0"/>
              <a:t>controller is the code that gathers dynamic data and generates the content within the HTML. </a:t>
            </a:r>
            <a:endParaRPr lang="en-US" dirty="0" smtClean="0"/>
          </a:p>
          <a:p>
            <a:pPr lvl="1"/>
            <a:r>
              <a:rPr lang="en-US" dirty="0" smtClean="0"/>
              <a:t>the </a:t>
            </a:r>
            <a:r>
              <a:rPr lang="en-US" dirty="0"/>
              <a:t>model is represented by the actual content, usually stored in a database or XML files, and the business rules that transform that content based on user actions</a:t>
            </a:r>
            <a:r>
              <a:rPr lang="en-US" dirty="0" smtClean="0"/>
              <a:t>.</a:t>
            </a:r>
          </a:p>
          <a:p>
            <a:pPr marL="457200" lvl="1" indent="0">
              <a:buNone/>
            </a:pPr>
            <a:endParaRPr lang="en-US" dirty="0"/>
          </a:p>
          <a:p>
            <a:pPr marL="0" indent="0">
              <a:buNone/>
            </a:pPr>
            <a:r>
              <a:rPr lang="en-US" u="sng" dirty="0"/>
              <a:t>Though MVC comes in different flavors, control flow generally works as follows:</a:t>
            </a:r>
          </a:p>
          <a:p>
            <a:pPr lvl="1"/>
            <a:r>
              <a:rPr lang="en-US" dirty="0"/>
              <a:t>The user interacts with the user interface in some way (e.g. presses a button).</a:t>
            </a:r>
          </a:p>
          <a:p>
            <a:pPr lvl="1"/>
            <a:r>
              <a:rPr lang="en-US" dirty="0"/>
              <a:t>A controller handles the input event from the user interface, often via a registered handler or callback.</a:t>
            </a:r>
          </a:p>
          <a:p>
            <a:pPr lvl="1"/>
            <a:r>
              <a:rPr lang="en-US" dirty="0"/>
              <a:t>The controller notifies the model of the user action, possibly resulting in a change in the model's state. (e.g. controller updates user's shopping cart).</a:t>
            </a:r>
          </a:p>
          <a:p>
            <a:pPr lvl="1"/>
            <a:r>
              <a:rPr lang="en-US" dirty="0"/>
              <a:t>A view uses the model (indirectly) to generate an appropriate user interface (e.g. the view produces a screen listing the shopping cart contents). The view gets its own data from the model. The model has no direct knowledge of the view.</a:t>
            </a:r>
          </a:p>
          <a:p>
            <a:pPr lvl="1"/>
            <a:r>
              <a:rPr lang="en-US" dirty="0"/>
              <a:t>The user interface waits for further user interactions, which begins the cycle anew.</a:t>
            </a:r>
          </a:p>
          <a:p>
            <a:pPr marL="0" indent="0">
              <a:buNone/>
            </a:pPr>
            <a:endParaRPr lang="en-US" dirty="0"/>
          </a:p>
          <a:p>
            <a:endParaRPr lang="nl-BE" dirty="0"/>
          </a:p>
        </p:txBody>
      </p:sp>
    </p:spTree>
    <p:extLst>
      <p:ext uri="{BB962C8B-B14F-4D97-AF65-F5344CB8AC3E}">
        <p14:creationId xmlns:p14="http://schemas.microsoft.com/office/powerpoint/2010/main" val="1081391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MVC advantages</a:t>
            </a:r>
            <a:endParaRPr lang="nl-BE" dirty="0"/>
          </a:p>
        </p:txBody>
      </p:sp>
      <p:sp>
        <p:nvSpPr>
          <p:cNvPr id="3" name="Content Placeholder 2"/>
          <p:cNvSpPr>
            <a:spLocks noGrp="1"/>
          </p:cNvSpPr>
          <p:nvPr>
            <p:ph idx="1"/>
          </p:nvPr>
        </p:nvSpPr>
        <p:spPr>
          <a:xfrm>
            <a:off x="838199" y="1825625"/>
            <a:ext cx="10756769" cy="4660016"/>
          </a:xfrm>
        </p:spPr>
        <p:txBody>
          <a:bodyPr>
            <a:normAutofit fontScale="55000" lnSpcReduction="20000"/>
          </a:bodyPr>
          <a:lstStyle/>
          <a:p>
            <a:pPr marL="514350" indent="-514350">
              <a:buFont typeface="+mj-lt"/>
              <a:buAutoNum type="arabicPeriod"/>
            </a:pPr>
            <a:r>
              <a:rPr lang="en-US" sz="2700" b="1" dirty="0" smtClean="0"/>
              <a:t>Faster development process:</a:t>
            </a:r>
          </a:p>
          <a:p>
            <a:pPr marL="457200" lvl="1" indent="0">
              <a:buNone/>
            </a:pPr>
            <a:r>
              <a:rPr lang="en-US" dirty="0" smtClean="0"/>
              <a:t>MVC supports rapid and parallel development. If an MVC model is used to develop any particular web application then it is possible that one programmer can work on the view while the another can work on the controller to create business logic of the web application.</a:t>
            </a:r>
          </a:p>
          <a:p>
            <a:pPr marL="514350" indent="-514350">
              <a:buFont typeface="+mj-lt"/>
              <a:buAutoNum type="arabicPeriod"/>
            </a:pPr>
            <a:r>
              <a:rPr lang="en-US" b="1" dirty="0" smtClean="0"/>
              <a:t>Ability to provide multiple views:</a:t>
            </a:r>
          </a:p>
          <a:p>
            <a:pPr marL="457200" lvl="1" indent="0">
              <a:buNone/>
            </a:pPr>
            <a:r>
              <a:rPr lang="en-US" dirty="0" smtClean="0"/>
              <a:t>In the MVC Model, you can create multiple views for the same model. Moreover, in this method, Code duplication is very limited because it separates data and business logic from the display.</a:t>
            </a:r>
          </a:p>
          <a:p>
            <a:pPr marL="514350" indent="-514350">
              <a:buFont typeface="+mj-lt"/>
              <a:buAutoNum type="arabicPeriod"/>
            </a:pPr>
            <a:r>
              <a:rPr lang="en-US" b="1" dirty="0" smtClean="0"/>
              <a:t>Support for asynchronous technique:</a:t>
            </a:r>
          </a:p>
          <a:p>
            <a:pPr marL="457200" lvl="1" indent="0">
              <a:buNone/>
            </a:pPr>
            <a:r>
              <a:rPr lang="en-US" dirty="0" smtClean="0"/>
              <a:t>The MVC architecture can also integrate with the JavaScript Framework. This means that MVC applications can be made to work even with PDF files, site-specific browsers, and also with desktop widgets. MVC also supports asynchronous technique, which helps developers to develop an application that loads very fast.</a:t>
            </a:r>
          </a:p>
          <a:p>
            <a:pPr marL="514350" indent="-514350">
              <a:buFont typeface="+mj-lt"/>
              <a:buAutoNum type="arabicPeriod"/>
            </a:pPr>
            <a:r>
              <a:rPr lang="en-US" b="1" dirty="0" smtClean="0"/>
              <a:t>Modification does not affect the entire model:</a:t>
            </a:r>
          </a:p>
          <a:p>
            <a:pPr marL="457200" lvl="1" indent="0">
              <a:buNone/>
            </a:pPr>
            <a:r>
              <a:rPr lang="en-US" dirty="0" smtClean="0"/>
              <a:t>For any web application, user interface tends to change more frequently than even the business rules of the company. It is obvious that you make frequent changes in your web application like changing colors, fonts, screen layouts, and adding new device support for mobile phones or tablets. Moreover, Adding new type of view is very easy in MVC pattern because the Model part does not depend on the views part. Therefore, any changes in the Model will not affect the entire architecture.</a:t>
            </a:r>
          </a:p>
          <a:p>
            <a:pPr marL="514350" indent="-514350">
              <a:buFont typeface="+mj-lt"/>
              <a:buAutoNum type="arabicPeriod"/>
            </a:pPr>
            <a:r>
              <a:rPr lang="en-US" b="1" dirty="0" smtClean="0"/>
              <a:t>MVC model returns the data without formatting:</a:t>
            </a:r>
          </a:p>
          <a:p>
            <a:pPr marL="457200" lvl="1" indent="0">
              <a:buNone/>
            </a:pPr>
            <a:r>
              <a:rPr lang="en-US" dirty="0" smtClean="0"/>
              <a:t>MVC pattern returns data without applying any formatting. Hence, the same components can be used and called for use with any interface. For example, any kind of data can be formatted with HTML, but it could also be formatted with Macromedia Flash or Dream viewer.</a:t>
            </a:r>
          </a:p>
          <a:p>
            <a:pPr marL="514350" indent="-514350">
              <a:buFont typeface="+mj-lt"/>
              <a:buAutoNum type="arabicPeriod"/>
            </a:pPr>
            <a:r>
              <a:rPr lang="en-US" b="1" dirty="0" smtClean="0"/>
              <a:t>Testing:</a:t>
            </a:r>
          </a:p>
          <a:p>
            <a:pPr marL="457200" lvl="1" indent="0">
              <a:buNone/>
            </a:pPr>
            <a:r>
              <a:rPr lang="en-US" dirty="0" smtClean="0"/>
              <a:t>Because the logic and representation layer isn’t depended of each other, we can make and maintain unit tests more easily </a:t>
            </a:r>
          </a:p>
          <a:p>
            <a:pPr marL="457200" lvl="1" indent="0">
              <a:buNone/>
            </a:pPr>
            <a:endParaRPr lang="en-US" dirty="0" smtClean="0"/>
          </a:p>
          <a:p>
            <a:pPr marL="0" indent="0">
              <a:buNone/>
            </a:pPr>
            <a:r>
              <a:rPr lang="en-US" b="1" dirty="0" smtClean="0"/>
              <a:t>General: </a:t>
            </a:r>
            <a:r>
              <a:rPr lang="en-US" dirty="0" smtClean="0"/>
              <a:t>By decoupling models and views, MVC helps to reduce the complexity in architectural design, and increase flexibility and reuse</a:t>
            </a:r>
            <a:endParaRPr lang="nl-BE" dirty="0" smtClean="0"/>
          </a:p>
          <a:p>
            <a:pPr marL="0" indent="0">
              <a:buNone/>
            </a:pPr>
            <a:endParaRPr lang="nl-BE" dirty="0"/>
          </a:p>
        </p:txBody>
      </p:sp>
    </p:spTree>
    <p:extLst>
      <p:ext uri="{BB962C8B-B14F-4D97-AF65-F5344CB8AC3E}">
        <p14:creationId xmlns:p14="http://schemas.microsoft.com/office/powerpoint/2010/main" val="3437852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MVC – Example</a:t>
            </a:r>
            <a:endParaRPr lang="nl-BE" dirty="0"/>
          </a:p>
        </p:txBody>
      </p:sp>
      <p:sp>
        <p:nvSpPr>
          <p:cNvPr id="3" name="Content Placeholder 2"/>
          <p:cNvSpPr>
            <a:spLocks noGrp="1"/>
          </p:cNvSpPr>
          <p:nvPr>
            <p:ph idx="1"/>
          </p:nvPr>
        </p:nvSpPr>
        <p:spPr>
          <a:xfrm>
            <a:off x="838200" y="1825625"/>
            <a:ext cx="10515600" cy="3387398"/>
          </a:xfrm>
        </p:spPr>
        <p:txBody>
          <a:bodyPr/>
          <a:lstStyle/>
          <a:p>
            <a:r>
              <a:rPr lang="en-US" dirty="0" smtClean="0"/>
              <a:t>Site: </a:t>
            </a:r>
            <a:r>
              <a:rPr lang="en-US" dirty="0" smtClean="0">
                <a:hlinkClick r:id="rId3"/>
              </a:rPr>
              <a:t>https://www.codeproject.com/Articles/25057/Simple-Example-of-MVC-Model-View-Controller-Design</a:t>
            </a:r>
            <a:endParaRPr lang="en-US" dirty="0" smtClean="0"/>
          </a:p>
          <a:p>
            <a:r>
              <a:rPr lang="en-US" dirty="0" smtClean="0"/>
              <a:t>Example Zip File with Microsoft Visual Studio Solution: </a:t>
            </a:r>
          </a:p>
          <a:p>
            <a:endParaRPr lang="en-US" dirty="0"/>
          </a:p>
          <a:p>
            <a:endParaRPr lang="en-US" dirty="0" smtClean="0"/>
          </a:p>
        </p:txBody>
      </p:sp>
      <p:graphicFrame>
        <p:nvGraphicFramePr>
          <p:cNvPr id="4" name="Object 3"/>
          <p:cNvGraphicFramePr>
            <a:graphicFrameLocks noChangeAspect="1"/>
          </p:cNvGraphicFramePr>
          <p:nvPr>
            <p:extLst>
              <p:ext uri="{D42A27DB-BD31-4B8C-83A1-F6EECF244321}">
                <p14:modId xmlns:p14="http://schemas.microsoft.com/office/powerpoint/2010/main" val="475180532"/>
              </p:ext>
            </p:extLst>
          </p:nvPr>
        </p:nvGraphicFramePr>
        <p:xfrm>
          <a:off x="1270312" y="3337055"/>
          <a:ext cx="1260854" cy="612776"/>
        </p:xfrm>
        <a:graphic>
          <a:graphicData uri="http://schemas.openxmlformats.org/presentationml/2006/ole">
            <mc:AlternateContent xmlns:mc="http://schemas.openxmlformats.org/markup-compatibility/2006">
              <mc:Choice xmlns:v="urn:schemas-microsoft-com:vml" Requires="v">
                <p:oleObj spid="_x0000_s2050" name="Packager Shell Object" showAsIcon="1" r:id="rId4" imgW="793080" imgH="385200" progId="Package">
                  <p:embed/>
                </p:oleObj>
              </mc:Choice>
              <mc:Fallback>
                <p:oleObj name="Packager Shell Object" showAsIcon="1" r:id="rId4" imgW="793080" imgH="385200" progId="Package">
                  <p:embed/>
                  <p:pic>
                    <p:nvPicPr>
                      <p:cNvPr id="0" name=""/>
                      <p:cNvPicPr/>
                      <p:nvPr/>
                    </p:nvPicPr>
                    <p:blipFill>
                      <a:blip r:embed="rId5"/>
                      <a:stretch>
                        <a:fillRect/>
                      </a:stretch>
                    </p:blipFill>
                    <p:spPr>
                      <a:xfrm>
                        <a:off x="1270312" y="3337055"/>
                        <a:ext cx="1260854" cy="612776"/>
                      </a:xfrm>
                      <a:prstGeom prst="rect">
                        <a:avLst/>
                      </a:prstGeom>
                    </p:spPr>
                  </p:pic>
                </p:oleObj>
              </mc:Fallback>
            </mc:AlternateContent>
          </a:graphicData>
        </a:graphic>
      </p:graphicFrame>
      <p:sp>
        <p:nvSpPr>
          <p:cNvPr id="5" name="TextBox 4"/>
          <p:cNvSpPr txBox="1"/>
          <p:nvPr/>
        </p:nvSpPr>
        <p:spPr>
          <a:xfrm>
            <a:off x="6442533" y="3084353"/>
            <a:ext cx="3134604" cy="646331"/>
          </a:xfrm>
          <a:prstGeom prst="rect">
            <a:avLst/>
          </a:prstGeom>
          <a:noFill/>
        </p:spPr>
        <p:txBody>
          <a:bodyPr wrap="square" rtlCol="0">
            <a:spAutoFit/>
          </a:bodyPr>
          <a:lstStyle/>
          <a:p>
            <a:r>
              <a:rPr lang="en-US" dirty="0" smtClean="0"/>
              <a:t>because you guys love </a:t>
            </a:r>
            <a:r>
              <a:rPr lang="en-US" dirty="0" err="1" smtClean="0"/>
              <a:t>c#</a:t>
            </a:r>
            <a:endParaRPr lang="nl-BE" dirty="0" smtClean="0"/>
          </a:p>
          <a:p>
            <a:endParaRPr lang="nl-BE" dirty="0"/>
          </a:p>
        </p:txBody>
      </p:sp>
    </p:spTree>
    <p:extLst>
      <p:ext uri="{BB962C8B-B14F-4D97-AF65-F5344CB8AC3E}">
        <p14:creationId xmlns:p14="http://schemas.microsoft.com/office/powerpoint/2010/main" val="7172080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699</Words>
  <Application>Microsoft Office PowerPoint</Application>
  <PresentationFormat>Widescreen</PresentationFormat>
  <Paragraphs>59</Paragraphs>
  <Slides>7</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Calibri</vt:lpstr>
      <vt:lpstr>Calibri Light</vt:lpstr>
      <vt:lpstr>Office Theme</vt:lpstr>
      <vt:lpstr>Package</vt:lpstr>
      <vt:lpstr>MVC</vt:lpstr>
      <vt:lpstr>What is MVC</vt:lpstr>
      <vt:lpstr>What is MVC</vt:lpstr>
      <vt:lpstr>What is MVC</vt:lpstr>
      <vt:lpstr>MVC – Uses and General flow</vt:lpstr>
      <vt:lpstr>MVC advantages</vt:lpstr>
      <vt:lpstr>MVC – Example</vt:lpstr>
    </vt:vector>
  </TitlesOfParts>
  <Company>Cegekanv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MVC</dc:title>
  <dc:creator>Alegria Mira William</dc:creator>
  <cp:lastModifiedBy>Alegria Mira William</cp:lastModifiedBy>
  <cp:revision>7</cp:revision>
  <dcterms:created xsi:type="dcterms:W3CDTF">2017-02-09T14:22:01Z</dcterms:created>
  <dcterms:modified xsi:type="dcterms:W3CDTF">2017-02-09T16:18:45Z</dcterms:modified>
</cp:coreProperties>
</file>